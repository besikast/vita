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8" r:id="rId3"/>
    <p:sldId id="256" r:id="rId4"/>
    <p:sldId id="260" r:id="rId5"/>
    <p:sldId id="261" r:id="rId6"/>
    <p:sldId id="264" r:id="rId7"/>
    <p:sldId id="263" r:id="rId8"/>
    <p:sldId id="266" r:id="rId9"/>
    <p:sldId id="265" r:id="rId10"/>
  </p:sldIdLst>
  <p:sldSz cx="14630400" cy="8229600"/>
  <p:notesSz cx="8229600" cy="14630400"/>
  <p:embeddedFontLst>
    <p:embeddedFont>
      <p:font typeface="Raleway Medium" charset="-52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AE1"/>
    <a:srgbClr val="252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Светлый стиль 1 -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929F9F4-4A8F-4326-A1B4-22849713DDAB}" styleName="Темный стиль 1 - акцент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Средний стиль 1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Средний стиль 4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-306" y="-7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3" d="100"/>
          <a:sy n="33" d="100"/>
        </p:scale>
        <p:origin x="-2892" y="-84"/>
      </p:cViewPr>
      <p:guideLst>
        <p:guide orient="horz" pos="4608"/>
        <p:guide pos="259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48E2E-3A5A-4550-91FA-6F6CF2766B45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9F812-7952-43F9-8F94-71B4E5876B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56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EEA77-EBE4-4653-8DBE-CE312C62C21C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37314-3BBD-4638-B691-5A414CA7D9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78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osi-game.html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hyperlink" Target="file:///C:\Users\prepod\Desktop\&#1052;&#1072;&#1089;&#1090;&#1077;&#1088;%20&#1075;&#1086;&#1076;&#1072;\osi-game1.html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13982329145957.mp4" TargetMode="External"/><Relationship Id="rId11" Type="http://schemas.openxmlformats.org/officeDocument/2006/relationships/image" Target="../media/image7.png"/><Relationship Id="rId5" Type="http://schemas.openxmlformats.org/officeDocument/2006/relationships/hyperlink" Target="13982334650981.mp4" TargetMode="External"/><Relationship Id="rId10" Type="http://schemas.openxmlformats.org/officeDocument/2006/relationships/image" Target="../media/image6.png"/><Relationship Id="rId4" Type="http://schemas.openxmlformats.org/officeDocument/2006/relationships/hyperlink" Target="13982330653285.mp4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microsoft.com/office/2007/relationships/hdphoto" Target="../media/hdphoto3.wdp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5231"/>
            <a:ext cx="9411324" cy="524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0">
            <a:hlinkClick r:id="rId4" action="ppaction://hlinkfile"/>
          </p:cNvPr>
          <p:cNvSpPr/>
          <p:nvPr/>
        </p:nvSpPr>
        <p:spPr>
          <a:xfrm>
            <a:off x="1975564" y="411360"/>
            <a:ext cx="5016460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Модель OSI: фундамент сети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63724" y="966787"/>
            <a:ext cx="4515180" cy="2964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Семиуровневая модель OSI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основа понимания того, как данные передаются по сети. Каждый уровень выполняет строго определённые функции и взаимодействует только со смежными уровнями. 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51498" y="7030387"/>
            <a:ext cx="13527405" cy="787733"/>
          </a:xfrm>
          <a:prstGeom prst="roundRect">
            <a:avLst>
              <a:gd name="adj" fmla="val 4632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72" y="7560350"/>
            <a:ext cx="172283" cy="1378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4451" y="7094640"/>
            <a:ext cx="12941498" cy="72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Фундамент сети — физический уровень!</a:t>
            </a:r>
            <a:r>
              <a:rPr lang="en-US" sz="20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Именно здесь находятся кабели, разъёмы и </a:t>
            </a:r>
            <a:r>
              <a:rPr lang="en-US" sz="2000" dirty="0" err="1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физические</a:t>
            </a:r>
            <a:r>
              <a:rPr lang="en-US" sz="20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endParaRPr lang="en-US" sz="2000" dirty="0" smtClean="0"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buNone/>
            </a:pPr>
            <a:r>
              <a:rPr lang="en-US" sz="2000" dirty="0" err="1" smtClean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сигналы</a:t>
            </a:r>
            <a:r>
              <a:rPr lang="en-US" sz="20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 Без исправного физического уровня все вышележащие уровни работать не будут.</a:t>
            </a:r>
            <a:endParaRPr lang="en-US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9563725" y="4309130"/>
            <a:ext cx="45151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Первые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три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уровня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</a:t>
            </a:r>
            <a:r>
              <a:rPr lang="en-US" sz="2400" b="1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физический</a:t>
            </a: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</a:t>
            </a:r>
            <a:r>
              <a:rPr lang="en-US" sz="2400" b="1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канальный</a:t>
            </a: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и </a:t>
            </a:r>
            <a:r>
              <a:rPr lang="en-US" sz="2400" b="1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сетевой</a:t>
            </a: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—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непосредственно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связаны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с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кабельной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инфраструктурой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и </a:t>
            </a:r>
            <a:r>
              <a:rPr lang="en-US" sz="24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адресацией</a:t>
            </a: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573861" y="1854967"/>
            <a:ext cx="3653365" cy="569626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326646" y="3222886"/>
            <a:ext cx="3220387" cy="516618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152399" y="2668245"/>
            <a:ext cx="3819994" cy="389748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52399" y="3842777"/>
            <a:ext cx="3139802" cy="397781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3095468" y="5712667"/>
            <a:ext cx="3220387" cy="397781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095468" y="5086287"/>
            <a:ext cx="3220387" cy="397781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3470832" y="4384683"/>
            <a:ext cx="2435293" cy="532091"/>
          </a:xfrm>
          <a:prstGeom prst="rect">
            <a:avLst/>
          </a:prstGeom>
          <a:solidFill>
            <a:srgbClr val="25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25" grpId="0" animBg="1"/>
      <p:bldP spid="26" grpId="0" animBg="1"/>
      <p:bldP spid="27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3" action="ppaction://hlinkfile"/>
          </p:cNvPr>
          <p:cNvSpPr/>
          <p:nvPr/>
        </p:nvSpPr>
        <p:spPr>
          <a:xfrm>
            <a:off x="845628" y="262544"/>
            <a:ext cx="7023854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Ситуация: сеть не работает!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1161931" y="782610"/>
            <a:ext cx="7101007" cy="139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ПК1 </a:t>
            </a: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не имеет сетевого подключения, </a:t>
            </a:r>
            <a:endParaRPr lang="ru-RU" sz="2400" dirty="0" smtClean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buNone/>
            </a:pP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ПК2 </a:t>
            </a: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работает нормально.</a:t>
            </a:r>
            <a:b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</a:b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Администратор проверил индикаторы </a:t>
            </a: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</a:t>
            </a:r>
          </a:p>
          <a:p>
            <a:pPr marL="0" indent="0" algn="l">
              <a:buNone/>
            </a:pP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использовал </a:t>
            </a: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тестер.</a:t>
            </a:r>
            <a:endParaRPr lang="en-US" sz="2400" dirty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58204" y="782611"/>
            <a:ext cx="45719" cy="1244816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3">
            <a:hlinkClick r:id="rId4" action="ppaction://hlinkfile"/>
          </p:cNvPr>
          <p:cNvSpPr/>
          <p:nvPr/>
        </p:nvSpPr>
        <p:spPr>
          <a:xfrm>
            <a:off x="892493" y="2246781"/>
            <a:ext cx="1871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92493" y="2542056"/>
            <a:ext cx="361140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8" name="Text 5"/>
          <p:cNvSpPr/>
          <p:nvPr/>
        </p:nvSpPr>
        <p:spPr>
          <a:xfrm>
            <a:off x="892493" y="2681359"/>
            <a:ext cx="35119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b="1" dirty="0" err="1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Проверяем</a:t>
            </a:r>
            <a:r>
              <a:rPr lang="en-US" sz="2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2400" b="1" dirty="0" err="1" smtClean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индикацию</a:t>
            </a:r>
            <a:endParaRPr lang="ru-RU" sz="2400" b="1" dirty="0" smtClean="0">
              <a:solidFill>
                <a:srgbClr val="D7D4CC"/>
              </a:solidFill>
              <a:latin typeface="Comfortaa Bold" pitchFamily="34" charset="0"/>
              <a:ea typeface="Comfortaa Bold" pitchFamily="34" charset="-122"/>
              <a:cs typeface="Comfortaa Bold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2400" b="1" dirty="0" smtClean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сетевой карты</a:t>
            </a:r>
            <a:endParaRPr lang="en-US" sz="2400" dirty="0"/>
          </a:p>
        </p:txBody>
      </p:sp>
      <p:sp>
        <p:nvSpPr>
          <p:cNvPr id="10" name="Text 7">
            <a:hlinkClick r:id="rId5" action="ppaction://hlinkfile"/>
          </p:cNvPr>
          <p:cNvSpPr/>
          <p:nvPr/>
        </p:nvSpPr>
        <p:spPr>
          <a:xfrm>
            <a:off x="4662964" y="2246781"/>
            <a:ext cx="1871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662964" y="2542056"/>
            <a:ext cx="361140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2" name="Text 9"/>
          <p:cNvSpPr/>
          <p:nvPr/>
        </p:nvSpPr>
        <p:spPr>
          <a:xfrm>
            <a:off x="4662964" y="2681359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400" b="1" dirty="0" err="1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Проверяем</a:t>
            </a:r>
            <a:r>
              <a:rPr lang="en-US" sz="2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2400" b="1" dirty="0" err="1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индикацию</a:t>
            </a:r>
            <a:endParaRPr lang="ru-RU" sz="2400" b="1" dirty="0">
              <a:solidFill>
                <a:srgbClr val="D7D4CC"/>
              </a:solidFill>
              <a:latin typeface="Comfortaa Bold" pitchFamily="34" charset="0"/>
              <a:ea typeface="Comfortaa Bold" pitchFamily="34" charset="-122"/>
              <a:cs typeface="Comfortaa Bold" pitchFamily="34" charset="-120"/>
            </a:endParaRPr>
          </a:p>
          <a:p>
            <a:pPr>
              <a:lnSpc>
                <a:spcPts val="2000"/>
              </a:lnSpc>
            </a:pPr>
            <a:r>
              <a:rPr lang="ru-RU" sz="2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коммутатора</a:t>
            </a:r>
            <a:endParaRPr lang="en-US" sz="2400" b="1" dirty="0">
              <a:solidFill>
                <a:srgbClr val="D7D4CC"/>
              </a:solidFill>
              <a:latin typeface="Comfortaa Bold" pitchFamily="34" charset="0"/>
              <a:ea typeface="Comfortaa Bold" pitchFamily="34" charset="-122"/>
              <a:cs typeface="Comfortaa Bold" pitchFamily="34" charset="-120"/>
            </a:endParaRPr>
          </a:p>
        </p:txBody>
      </p:sp>
      <p:sp>
        <p:nvSpPr>
          <p:cNvPr id="14" name="Text 11">
            <a:hlinkClick r:id="rId6" action="ppaction://hlinkfile"/>
          </p:cNvPr>
          <p:cNvSpPr/>
          <p:nvPr/>
        </p:nvSpPr>
        <p:spPr>
          <a:xfrm>
            <a:off x="881060" y="5330367"/>
            <a:ext cx="1871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81060" y="5764945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2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Тестируем кабель</a:t>
            </a:r>
            <a:endParaRPr lang="en-US" sz="2400" b="1" dirty="0">
              <a:solidFill>
                <a:srgbClr val="D7D4CC"/>
              </a:solidFill>
              <a:latin typeface="Comfortaa Bold" pitchFamily="34" charset="0"/>
              <a:ea typeface="Comfortaa Bold" pitchFamily="34" charset="-122"/>
              <a:cs typeface="Comfortaa Bold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417457" y="5894901"/>
            <a:ext cx="4495306" cy="1793345"/>
          </a:xfrm>
          <a:prstGeom prst="roundRect">
            <a:avLst>
              <a:gd name="adj" fmla="val 28171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7457" y="6192479"/>
            <a:ext cx="142472" cy="2627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37949" y="6100761"/>
            <a:ext cx="3539896" cy="116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Вопрос:</a:t>
            </a:r>
            <a:r>
              <a:rPr lang="en-US" sz="24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К какому уровню модели OSI относится эта проблема? </a:t>
            </a:r>
            <a:endParaRPr lang="en-US" sz="24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823" y="3217893"/>
            <a:ext cx="2956743" cy="205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130" y="3217893"/>
            <a:ext cx="2956743" cy="205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84" y="6024858"/>
            <a:ext cx="2956743" cy="205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Shape 8"/>
          <p:cNvSpPr/>
          <p:nvPr/>
        </p:nvSpPr>
        <p:spPr>
          <a:xfrm>
            <a:off x="903923" y="5564325"/>
            <a:ext cx="361140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22" name="Равнобедренный треугольник 21"/>
          <p:cNvSpPr/>
          <p:nvPr/>
        </p:nvSpPr>
        <p:spPr>
          <a:xfrm rot="5400000">
            <a:off x="2398426" y="3867462"/>
            <a:ext cx="563132" cy="509666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Равнобедренный треугольник 27"/>
          <p:cNvSpPr/>
          <p:nvPr/>
        </p:nvSpPr>
        <p:spPr>
          <a:xfrm rot="5400000">
            <a:off x="6251285" y="3962400"/>
            <a:ext cx="563132" cy="509666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Равнобедренный треугольник 28"/>
          <p:cNvSpPr/>
          <p:nvPr/>
        </p:nvSpPr>
        <p:spPr>
          <a:xfrm rot="5400000">
            <a:off x="2398426" y="6756733"/>
            <a:ext cx="563132" cy="509666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176" name="Picture 8" descr="C:\Users\prepod\Downloads\pc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343" y="3608309"/>
            <a:ext cx="1591103" cy="159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 descr="C:\Users\prepod\Downloads\server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207" y="522577"/>
            <a:ext cx="1515047" cy="173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C:\Users\prepod\Downloads\free-icon-hub-2729125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343" y="444655"/>
            <a:ext cx="2145739" cy="214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C:\Users\prepod\Downloads\pc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2149" y="3612418"/>
            <a:ext cx="1591103" cy="159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C:\Users\prepod\Downloads\pc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343" y="6097143"/>
            <a:ext cx="1591103" cy="159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C:\Users\prepod\Downloads\pc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095" y="6097142"/>
            <a:ext cx="1591103" cy="159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16" name="Группа 7215"/>
          <p:cNvGrpSpPr/>
          <p:nvPr/>
        </p:nvGrpSpPr>
        <p:grpSpPr>
          <a:xfrm>
            <a:off x="9817484" y="2027426"/>
            <a:ext cx="675631" cy="2380543"/>
            <a:chOff x="9817484" y="2027426"/>
            <a:chExt cx="675631" cy="2380543"/>
          </a:xfrm>
        </p:grpSpPr>
        <p:cxnSp>
          <p:nvCxnSpPr>
            <p:cNvPr id="56" name="Прямая соединительная линия 55"/>
            <p:cNvCxnSpPr>
              <a:stCxn id="7176" idx="1"/>
            </p:cNvCxnSpPr>
            <p:nvPr/>
          </p:nvCxnSpPr>
          <p:spPr>
            <a:xfrm flipH="1">
              <a:off x="9817484" y="4403861"/>
              <a:ext cx="103859" cy="4108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/>
          </p:nvCxnSpPr>
          <p:spPr>
            <a:xfrm flipV="1">
              <a:off x="9817484" y="2564916"/>
              <a:ext cx="0" cy="1838944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>
              <a:off x="9817484" y="2553486"/>
              <a:ext cx="675631" cy="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/>
          </p:nvCxnSpPr>
          <p:spPr>
            <a:xfrm flipV="1">
              <a:off x="10493115" y="2027426"/>
              <a:ext cx="0" cy="52606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17" name="Группа 7216"/>
          <p:cNvGrpSpPr/>
          <p:nvPr/>
        </p:nvGrpSpPr>
        <p:grpSpPr>
          <a:xfrm>
            <a:off x="9678010" y="2027426"/>
            <a:ext cx="1221638" cy="4865269"/>
            <a:chOff x="9678010" y="2027426"/>
            <a:chExt cx="1221638" cy="4865269"/>
          </a:xfrm>
        </p:grpSpPr>
        <p:cxnSp>
          <p:nvCxnSpPr>
            <p:cNvPr id="7183" name="Прямая соединительная линия 7182"/>
            <p:cNvCxnSpPr>
              <a:stCxn id="38" idx="1"/>
            </p:cNvCxnSpPr>
            <p:nvPr/>
          </p:nvCxnSpPr>
          <p:spPr>
            <a:xfrm flipH="1" flipV="1">
              <a:off x="9678010" y="6892693"/>
              <a:ext cx="243333" cy="2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5" name="Прямая соединительная линия 7184"/>
            <p:cNvCxnSpPr/>
            <p:nvPr/>
          </p:nvCxnSpPr>
          <p:spPr>
            <a:xfrm flipV="1">
              <a:off x="9678010" y="2681359"/>
              <a:ext cx="0" cy="4211335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8" name="Прямая соединительная линия 7187"/>
            <p:cNvCxnSpPr/>
            <p:nvPr/>
          </p:nvCxnSpPr>
          <p:spPr>
            <a:xfrm>
              <a:off x="9678010" y="2674044"/>
              <a:ext cx="1221638" cy="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3" name="Прямая соединительная линия 7192"/>
            <p:cNvCxnSpPr/>
            <p:nvPr/>
          </p:nvCxnSpPr>
          <p:spPr>
            <a:xfrm flipV="1">
              <a:off x="10899648" y="2027426"/>
              <a:ext cx="0" cy="646618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95" name="Прямая соединительная линия 7194"/>
          <p:cNvCxnSpPr>
            <a:endCxn id="7177" idx="1"/>
          </p:cNvCxnSpPr>
          <p:nvPr/>
        </p:nvCxnSpPr>
        <p:spPr>
          <a:xfrm>
            <a:off x="11897833" y="1392346"/>
            <a:ext cx="866374" cy="1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19" name="Группа 7218"/>
          <p:cNvGrpSpPr/>
          <p:nvPr/>
        </p:nvGrpSpPr>
        <p:grpSpPr>
          <a:xfrm>
            <a:off x="11313042" y="2027426"/>
            <a:ext cx="2870791" cy="2380543"/>
            <a:chOff x="11313042" y="2027426"/>
            <a:chExt cx="2870791" cy="2380543"/>
          </a:xfrm>
        </p:grpSpPr>
        <p:cxnSp>
          <p:nvCxnSpPr>
            <p:cNvPr id="7197" name="Прямая соединительная линия 7196"/>
            <p:cNvCxnSpPr/>
            <p:nvPr/>
          </p:nvCxnSpPr>
          <p:spPr>
            <a:xfrm flipV="1">
              <a:off x="14093252" y="4403860"/>
              <a:ext cx="90581" cy="4109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9" name="Прямая соединительная линия 7198"/>
            <p:cNvCxnSpPr/>
            <p:nvPr/>
          </p:nvCxnSpPr>
          <p:spPr>
            <a:xfrm>
              <a:off x="14183833" y="2681359"/>
              <a:ext cx="0" cy="172661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5" name="Прямая соединительная линия 7204"/>
            <p:cNvCxnSpPr/>
            <p:nvPr/>
          </p:nvCxnSpPr>
          <p:spPr>
            <a:xfrm flipH="1">
              <a:off x="11313042" y="2681359"/>
              <a:ext cx="2870791" cy="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7" name="Прямая соединительная линия 7206"/>
            <p:cNvCxnSpPr/>
            <p:nvPr/>
          </p:nvCxnSpPr>
          <p:spPr>
            <a:xfrm flipV="1">
              <a:off x="11313042" y="2027426"/>
              <a:ext cx="0" cy="653933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18" name="Группа 7217"/>
          <p:cNvGrpSpPr/>
          <p:nvPr/>
        </p:nvGrpSpPr>
        <p:grpSpPr>
          <a:xfrm>
            <a:off x="11706447" y="2027426"/>
            <a:ext cx="2743200" cy="4865268"/>
            <a:chOff x="11706447" y="2027426"/>
            <a:chExt cx="2743200" cy="4865268"/>
          </a:xfrm>
        </p:grpSpPr>
        <p:cxnSp>
          <p:nvCxnSpPr>
            <p:cNvPr id="7209" name="Прямая соединительная линия 7208"/>
            <p:cNvCxnSpPr>
              <a:stCxn id="39" idx="3"/>
            </p:cNvCxnSpPr>
            <p:nvPr/>
          </p:nvCxnSpPr>
          <p:spPr>
            <a:xfrm flipV="1">
              <a:off x="14062198" y="6892693"/>
              <a:ext cx="387449" cy="1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1" name="Прямая соединительная линия 7210"/>
            <p:cNvCxnSpPr/>
            <p:nvPr/>
          </p:nvCxnSpPr>
          <p:spPr>
            <a:xfrm flipV="1">
              <a:off x="14449647" y="2480739"/>
              <a:ext cx="0" cy="4411954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3" name="Прямая соединительная линия 7212"/>
            <p:cNvCxnSpPr/>
            <p:nvPr/>
          </p:nvCxnSpPr>
          <p:spPr>
            <a:xfrm flipH="1">
              <a:off x="11706447" y="2480739"/>
              <a:ext cx="2743200" cy="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5" name="Прямая соединительная линия 7214"/>
            <p:cNvCxnSpPr/>
            <p:nvPr/>
          </p:nvCxnSpPr>
          <p:spPr>
            <a:xfrm flipV="1">
              <a:off x="11706447" y="2027426"/>
              <a:ext cx="0" cy="453313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220" name="Picture 11" descr="C:\Users\prepod\Desktop\Мастер года\Схемасети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849" y="0"/>
            <a:ext cx="539755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2314" y="888897"/>
            <a:ext cx="7381875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ru-RU" sz="540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Кабели</a:t>
            </a:r>
            <a:r>
              <a:rPr lang="ru-RU" sz="540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типа</a:t>
            </a:r>
          </a:p>
          <a:p>
            <a:pPr marL="0" indent="0" algn="ctr">
              <a:lnSpc>
                <a:spcPts val="4800"/>
              </a:lnSpc>
              <a:buNone/>
            </a:pPr>
            <a:r>
              <a:rPr lang="ru-RU" sz="540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«витая пара»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614298" y="2393056"/>
            <a:ext cx="7381875" cy="112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750"/>
              </a:lnSpc>
            </a:pPr>
            <a:r>
              <a:rPr lang="ru-RU" sz="2400" b="1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Цель</a:t>
            </a:r>
            <a:r>
              <a:rPr lang="ru-RU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</a:t>
            </a: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изучение конструктивных особенностей кабелей «витая пара» и технологии изготовления </a:t>
            </a:r>
            <a:r>
              <a:rPr lang="ru-RU" sz="24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патч</a:t>
            </a: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-корда</a:t>
            </a:r>
            <a:endParaRPr lang="en-US" sz="2400" dirty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049917" y="7268879"/>
            <a:ext cx="2581394" cy="414099"/>
          </a:xfrm>
          <a:prstGeom prst="roundRect">
            <a:avLst>
              <a:gd name="adj" fmla="val 63838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</p:sp>
      <p:sp>
        <p:nvSpPr>
          <p:cNvPr id="6" name="Text 3"/>
          <p:cNvSpPr/>
          <p:nvPr/>
        </p:nvSpPr>
        <p:spPr>
          <a:xfrm>
            <a:off x="6182076" y="7334958"/>
            <a:ext cx="231707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СПЕЦИАЛЬНОСТЬ 09.02.06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801403" y="7273099"/>
            <a:ext cx="4579263" cy="429339"/>
          </a:xfrm>
          <a:prstGeom prst="roundRect">
            <a:avLst>
              <a:gd name="adj" fmla="val 61572"/>
            </a:avLst>
          </a:prstGeom>
          <a:noFill/>
          <a:ln w="7620">
            <a:solidFill>
              <a:srgbClr val="FFE1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41183" y="7346798"/>
            <a:ext cx="4299704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СЕТЕВОЕ И СИСТЕМНОЕ АДМИНИСТРИРОВАНИЕ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3559988" y="7273098"/>
            <a:ext cx="872371" cy="429339"/>
          </a:xfrm>
          <a:prstGeom prst="roundRect">
            <a:avLst>
              <a:gd name="adj" fmla="val 61572"/>
            </a:avLst>
          </a:prstGeom>
          <a:noFill/>
          <a:ln w="7620">
            <a:solidFill>
              <a:srgbClr val="FFE1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699767" y="7346798"/>
            <a:ext cx="592812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КУРС 2</a:t>
            </a:r>
            <a:endParaRPr lang="en-US" sz="135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592313" y="3850815"/>
            <a:ext cx="74038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1. Рассмотреть разные типы кабелей;</a:t>
            </a:r>
          </a:p>
          <a:p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2. Научиться </a:t>
            </a: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их </a:t>
            </a: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различать;</a:t>
            </a:r>
          </a:p>
          <a:p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3. Научиться </a:t>
            </a: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рассчитывать необходимое количество кабеля для </a:t>
            </a: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объекта;</a:t>
            </a:r>
          </a:p>
          <a:p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4. Освоить </a:t>
            </a:r>
            <a:r>
              <a:rPr lang="ru-RU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технологию изготовления </a:t>
            </a:r>
            <a:r>
              <a:rPr lang="ru-RU" sz="24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патч</a:t>
            </a:r>
            <a:r>
              <a:rPr lang="ru-RU" sz="24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-корда.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634960"/>
            <a:ext cx="11376779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Витая пара (Twisted Pair): эволюция категорий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430052" y="4663833"/>
            <a:ext cx="4921437" cy="215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Категория кабеля определяет максимальную частоту и скорость передачи данных. Скручивание пар проводов снижает электромагнитные помехи. Для гигабитных скоростей используются </a:t>
            </a:r>
            <a:r>
              <a:rPr lang="en-US" sz="2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все 4 пары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одновременно.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881062" y="7019110"/>
            <a:ext cx="12868275" cy="788670"/>
          </a:xfrm>
          <a:prstGeom prst="roundRect">
            <a:avLst>
              <a:gd name="adj" fmla="val 37709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01" y="7306765"/>
            <a:ext cx="247769" cy="198239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525309" y="7246995"/>
            <a:ext cx="1202578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Для построения современных локальных сетей оптимален выбор </a:t>
            </a:r>
            <a:r>
              <a:rPr lang="en-US" sz="155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Cat5e</a:t>
            </a:r>
            <a:r>
              <a:rPr lang="en-US" sz="15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(бюджет) или </a:t>
            </a:r>
            <a:r>
              <a:rPr lang="en-US" sz="155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Cat6</a:t>
            </a:r>
            <a:r>
              <a:rPr lang="en-US" sz="15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(с запасом на будущее).</a:t>
            </a:r>
            <a:endParaRPr lang="en-US" sz="1550" dirty="0"/>
          </a:p>
        </p:txBody>
      </p:sp>
      <p:sp>
        <p:nvSpPr>
          <p:cNvPr id="49" name="Text 1"/>
          <p:cNvSpPr/>
          <p:nvPr/>
        </p:nvSpPr>
        <p:spPr>
          <a:xfrm>
            <a:off x="582452" y="1426867"/>
            <a:ext cx="4769037" cy="266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Конструкция:</a:t>
            </a:r>
            <a:endParaRPr lang="ru-RU" sz="2000" dirty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ru-RU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Медные проводники (8 жил, 4 пары)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Изоляция каждого проводника (цветная)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Шаг скрутки (разный для разных пар)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Разделитель (крестовина) — в Cat6 и выше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Внешняя </a:t>
            </a:r>
            <a:r>
              <a:rPr lang="ru-RU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оболочка</a:t>
            </a:r>
            <a:endParaRPr lang="ru-RU" sz="2000" dirty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ru-RU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Экран (в экранированных версиях)</a:t>
            </a:r>
          </a:p>
        </p:txBody>
      </p:sp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02026"/>
              </p:ext>
            </p:extLst>
          </p:nvPr>
        </p:nvGraphicFramePr>
        <p:xfrm>
          <a:off x="5939865" y="1261976"/>
          <a:ext cx="8225840" cy="560070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056746"/>
                <a:gridCol w="1082956"/>
                <a:gridCol w="2259070"/>
                <a:gridCol w="3827068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2000" dirty="0" smtClean="0">
                          <a:effectLst/>
                        </a:rPr>
                        <a:t>Категория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>
                          <a:effectLst/>
                        </a:rPr>
                        <a:t>Частота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effectLst/>
                        </a:rPr>
                        <a:t>Скорость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smtClean="0">
                          <a:effectLst/>
                        </a:rPr>
                        <a:t>Применение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Cat5e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100 МГц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1 Гбит/с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Cat6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250 МГц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1 Гбит (100 м) / 10 Гбит (до 55 м)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Cat6a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500 МГц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10 Гбит (100 м)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Cat7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600 МГц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10 Гбит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Cat7a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1000 МГц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40 Гбит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Cat8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2000 МГц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25–40 Гбит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9156" y="696337"/>
            <a:ext cx="6219944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Типы экранирования витой пары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8660" y="6327815"/>
            <a:ext cx="3529370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Когда нужен экранированный кабель?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198007" y="6691432"/>
            <a:ext cx="6052780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Рядом с </a:t>
            </a:r>
            <a:r>
              <a:rPr lang="en-US" sz="2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высоковольтным оборудованием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и </a:t>
            </a:r>
            <a:endParaRPr lang="en-US" sz="2000" dirty="0" smtClean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силовыми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линиями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868841" y="6691432"/>
            <a:ext cx="6052899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 </a:t>
            </a:r>
            <a:r>
              <a:rPr lang="en-US" sz="2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производственных цехах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с </a:t>
            </a: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мощными</a:t>
            </a:r>
            <a:endParaRPr lang="en-US" sz="2000" dirty="0" smtClean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электродвигателями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198007" y="7356515"/>
            <a:ext cx="6052780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При </a:t>
            </a:r>
            <a:r>
              <a:rPr lang="en-US" sz="2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высоких требованиях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к </a:t>
            </a: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помехозащищённости</a:t>
            </a:r>
            <a:endParaRPr lang="en-US" sz="2000" dirty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 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безопасности данных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7868841" y="7356515"/>
            <a:ext cx="6052899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При прокладке </a:t>
            </a:r>
            <a:r>
              <a:rPr lang="en-US" sz="2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вне помещений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или в </a:t>
            </a: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металлических</a:t>
            </a:r>
            <a:endParaRPr lang="en-US" sz="2000" dirty="0" smtClean="0">
              <a:solidFill>
                <a:srgbClr val="D7D4CC"/>
              </a:solidFill>
              <a:latin typeface="Raleway Medium" pitchFamily="34" charset="0"/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лотках</a:t>
            </a:r>
            <a:endParaRPr lang="en-US" sz="2000" dirty="0"/>
          </a:p>
        </p:txBody>
      </p:sp>
      <p:sp>
        <p:nvSpPr>
          <p:cNvPr id="24" name="Text 3"/>
          <p:cNvSpPr/>
          <p:nvPr/>
        </p:nvSpPr>
        <p:spPr>
          <a:xfrm>
            <a:off x="7721632" y="1338707"/>
            <a:ext cx="5554991" cy="465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__/UTP – нет экранированных </a:t>
            </a:r>
            <a:r>
              <a:rPr lang="ru-RU" sz="2400" dirty="0" smtClean="0">
                <a:solidFill>
                  <a:schemeClr val="bg1"/>
                </a:solidFill>
              </a:rPr>
              <a:t>пар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__/FTP – каждая пара </a:t>
            </a:r>
            <a:r>
              <a:rPr lang="ru-RU" sz="2400" dirty="0" smtClean="0">
                <a:solidFill>
                  <a:schemeClr val="bg1"/>
                </a:solidFill>
              </a:rPr>
              <a:t>экранирована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</a:t>
            </a:r>
            <a:r>
              <a:rPr lang="ru-RU" sz="2400" dirty="0">
                <a:solidFill>
                  <a:schemeClr val="bg1"/>
                </a:solidFill>
              </a:rPr>
              <a:t>/__ – нет общего </a:t>
            </a:r>
            <a:r>
              <a:rPr lang="ru-RU" sz="2400" dirty="0" smtClean="0">
                <a:solidFill>
                  <a:schemeClr val="bg1"/>
                </a:solidFill>
              </a:rPr>
              <a:t>экрана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</a:t>
            </a:r>
            <a:r>
              <a:rPr lang="ru-RU" sz="2400" dirty="0">
                <a:solidFill>
                  <a:schemeClr val="bg1"/>
                </a:solidFill>
              </a:rPr>
              <a:t>/__ – общий экран в виде </a:t>
            </a:r>
            <a:r>
              <a:rPr lang="ru-RU" sz="2400" dirty="0" smtClean="0">
                <a:solidFill>
                  <a:schemeClr val="bg1"/>
                </a:solidFill>
              </a:rPr>
              <a:t>оплетки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</a:t>
            </a:r>
            <a:r>
              <a:rPr lang="ru-RU" sz="2400" dirty="0">
                <a:solidFill>
                  <a:schemeClr val="bg1"/>
                </a:solidFill>
              </a:rPr>
              <a:t>/__ – общий экран из </a:t>
            </a:r>
            <a:r>
              <a:rPr lang="ru-RU" sz="2400" dirty="0" smtClean="0">
                <a:solidFill>
                  <a:schemeClr val="bg1"/>
                </a:solidFill>
              </a:rPr>
              <a:t>фольги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SF</a:t>
            </a:r>
            <a:r>
              <a:rPr lang="ru-RU" sz="2400" dirty="0">
                <a:solidFill>
                  <a:schemeClr val="bg1"/>
                </a:solidFill>
              </a:rPr>
              <a:t>/__ – общий экран из фольги и оплетки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074" name="Picture 2" descr="C:\Users\prepod\Downloads\SF-UTP_twisted_pair_cable_shielding.svg.pn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07" y="1114604"/>
            <a:ext cx="5683805" cy="2030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prepod\Downloads\U-UTP_twisted_pair_cable_shielding.svg.pn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07" y="3492175"/>
            <a:ext cx="5683805" cy="2030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880348"/>
            <a:ext cx="11845766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Расчёт количества кабеля: задача сисадмина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30329" y="1759743"/>
            <a:ext cx="6480334" cy="5365910"/>
          </a:xfrm>
          <a:prstGeom prst="roundRect">
            <a:avLst>
              <a:gd name="adj" fmla="val 8986"/>
            </a:avLst>
          </a:prstGeom>
          <a:solidFill>
            <a:srgbClr val="FFE14D"/>
          </a:solidFill>
          <a:ln/>
        </p:spPr>
      </p:sp>
      <p:sp>
        <p:nvSpPr>
          <p:cNvPr id="4" name="Text 2"/>
          <p:cNvSpPr/>
          <p:nvPr/>
        </p:nvSpPr>
        <p:spPr>
          <a:xfrm>
            <a:off x="2677452" y="1989573"/>
            <a:ext cx="2346246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Формулы расчёта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39522" y="2472690"/>
            <a:ext cx="6061948" cy="1117044"/>
          </a:xfrm>
          <a:prstGeom prst="roundRect">
            <a:avLst>
              <a:gd name="adj" fmla="val 9823"/>
            </a:avLst>
          </a:prstGeom>
          <a:solidFill>
            <a:srgbClr val="FFE14D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6662" y="2472690"/>
            <a:ext cx="91440" cy="1117044"/>
          </a:xfrm>
          <a:prstGeom prst="roundRect">
            <a:avLst>
              <a:gd name="adj" fmla="val 343308"/>
            </a:avLst>
          </a:prstGeom>
          <a:solidFill>
            <a:srgbClr val="FFE14D"/>
          </a:solidFill>
          <a:ln/>
        </p:spPr>
      </p:sp>
      <p:sp>
        <p:nvSpPr>
          <p:cNvPr id="7" name="Text 5"/>
          <p:cNvSpPr/>
          <p:nvPr/>
        </p:nvSpPr>
        <p:spPr>
          <a:xfrm>
            <a:off x="1240155" y="2704743"/>
            <a:ext cx="5529263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00" b="1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Расстояние в натуре (м)</a:t>
            </a:r>
            <a:r>
              <a:rPr lang="en-US" sz="2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= Расстояние по </a:t>
            </a:r>
            <a:r>
              <a:rPr lang="en-US" sz="2000" dirty="0" err="1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схеме</a:t>
            </a:r>
            <a:r>
              <a:rPr lang="en-US" sz="2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(</a:t>
            </a:r>
            <a:r>
              <a:rPr lang="ru-RU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см</a:t>
            </a:r>
            <a:r>
              <a:rPr lang="en-US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) </a:t>
            </a:r>
            <a:r>
              <a:rPr lang="en-US" sz="2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× </a:t>
            </a:r>
            <a:r>
              <a:rPr lang="en-US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0,</a:t>
            </a:r>
            <a:r>
              <a:rPr lang="ru-RU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0</a:t>
            </a:r>
            <a:r>
              <a:rPr lang="en-US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</a:t>
            </a:r>
            <a:r>
              <a:rPr lang="ru-RU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или в см </a:t>
            </a:r>
            <a:r>
              <a:rPr lang="en-US" sz="2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× </a:t>
            </a:r>
            <a:r>
              <a:rPr lang="en-US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0,1</a:t>
            </a:r>
            <a:r>
              <a:rPr lang="ru-RU" sz="2000" dirty="0" smtClean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9522" y="3788450"/>
            <a:ext cx="6061948" cy="1117044"/>
          </a:xfrm>
          <a:prstGeom prst="roundRect">
            <a:avLst>
              <a:gd name="adj" fmla="val 9823"/>
            </a:avLst>
          </a:prstGeom>
          <a:solidFill>
            <a:srgbClr val="FFE14D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6662" y="3788450"/>
            <a:ext cx="91440" cy="1117044"/>
          </a:xfrm>
          <a:prstGeom prst="roundRect">
            <a:avLst>
              <a:gd name="adj" fmla="val 343308"/>
            </a:avLst>
          </a:prstGeom>
          <a:solidFill>
            <a:srgbClr val="FFE14D"/>
          </a:solidFill>
          <a:ln/>
        </p:spPr>
      </p:sp>
      <p:sp>
        <p:nvSpPr>
          <p:cNvPr id="10" name="Text 8"/>
          <p:cNvSpPr/>
          <p:nvPr/>
        </p:nvSpPr>
        <p:spPr>
          <a:xfrm>
            <a:off x="1240155" y="4020503"/>
            <a:ext cx="5529263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 запасом</a:t>
            </a:r>
            <a:r>
              <a:rPr lang="en-US" sz="2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= Расстояние в натуре × 1,15 </a:t>
            </a:r>
            <a:r>
              <a:rPr lang="en-US" sz="2000" i="1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(15% на подъёмы/спуски)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39522" y="5104209"/>
            <a:ext cx="6061948" cy="790575"/>
          </a:xfrm>
          <a:prstGeom prst="roundRect">
            <a:avLst>
              <a:gd name="adj" fmla="val 13880"/>
            </a:avLst>
          </a:prstGeom>
          <a:solidFill>
            <a:srgbClr val="FFE14D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6662" y="5104209"/>
            <a:ext cx="91440" cy="790575"/>
          </a:xfrm>
          <a:prstGeom prst="roundRect">
            <a:avLst>
              <a:gd name="adj" fmla="val 343308"/>
            </a:avLst>
          </a:prstGeom>
          <a:solidFill>
            <a:srgbClr val="FFE1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55" y="5336262"/>
            <a:ext cx="5529263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Итого</a:t>
            </a:r>
            <a:r>
              <a:rPr lang="en-US" sz="2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= (С запасом) × Количество портов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78090" y="1958459"/>
            <a:ext cx="2325291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Пример расчёта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78090" y="2472690"/>
            <a:ext cx="6178868" cy="2915603"/>
          </a:xfrm>
          <a:prstGeom prst="roundRect">
            <a:avLst>
              <a:gd name="adj" fmla="val 1076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5710" y="2480310"/>
            <a:ext cx="6163628" cy="5800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95022" y="2607112"/>
            <a:ext cx="327588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Параметр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96913" y="2607112"/>
            <a:ext cx="204323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Значение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5710" y="3060383"/>
            <a:ext cx="6163628" cy="5800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95022" y="3187184"/>
            <a:ext cx="327588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Расстояние по схеме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96913" y="3187184"/>
            <a:ext cx="204323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15 </a:t>
            </a:r>
            <a:r>
              <a:rPr lang="ru-RU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85710" y="3640455"/>
            <a:ext cx="6163628" cy="5800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95022" y="3767257"/>
            <a:ext cx="327588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 натуре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96913" y="3767257"/>
            <a:ext cx="204323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</a:t>
            </a:r>
            <a:r>
              <a:rPr lang="ru-RU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5 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5710" y="4220528"/>
            <a:ext cx="6163628" cy="5800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795022" y="4347329"/>
            <a:ext cx="327588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 запасом 15%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496913" y="4347329"/>
            <a:ext cx="204323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</a:t>
            </a:r>
            <a:r>
              <a:rPr lang="ru-RU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7 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585710" y="4800600"/>
            <a:ext cx="6163628" cy="5800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95022" y="4927402"/>
            <a:ext cx="327588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На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 </a:t>
            </a:r>
            <a:r>
              <a:rPr lang="en-US" sz="2000" dirty="0" err="1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компьютера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496913" y="4927402"/>
            <a:ext cx="204323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</a:t>
            </a:r>
            <a:r>
              <a:rPr lang="ru-RU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</a:t>
            </a:r>
            <a:r>
              <a:rPr lang="en-US" sz="20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 </a:t>
            </a: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</a:t>
            </a:r>
            <a:endParaRPr lang="en-US" sz="20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82" y="6094630"/>
            <a:ext cx="261580" cy="20919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33155" y="6031051"/>
            <a:ext cx="5289709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Важно:</a:t>
            </a:r>
            <a:r>
              <a:rPr lang="en-US" sz="20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округляем в большую сторону + добавляем 5–10 м на разделку и возможный брак при монтаже.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671155"/>
            <a:ext cx="967656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Изготовление патч-корда: </a:t>
            </a:r>
            <a:r>
              <a:rPr lang="en-US" sz="3050" b="1" dirty="0" err="1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стандарт</a:t>
            </a:r>
            <a:r>
              <a:rPr lang="ru-RU" sz="305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ы и типы обжима</a:t>
            </a:r>
            <a:endParaRPr lang="en-US" sz="3050" dirty="0"/>
          </a:p>
        </p:txBody>
      </p:sp>
      <p:sp>
        <p:nvSpPr>
          <p:cNvPr id="26" name="Shape 24"/>
          <p:cNvSpPr/>
          <p:nvPr/>
        </p:nvSpPr>
        <p:spPr>
          <a:xfrm>
            <a:off x="792075" y="6603326"/>
            <a:ext cx="6219230" cy="1165824"/>
          </a:xfrm>
          <a:prstGeom prst="roundRect">
            <a:avLst>
              <a:gd name="adj" fmla="val 29134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87" y="7118353"/>
            <a:ext cx="220266" cy="17621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64763" y="6726313"/>
            <a:ext cx="5470327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Стандарт </a:t>
            </a:r>
            <a:r>
              <a:rPr lang="en-US" sz="200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T568B</a:t>
            </a:r>
            <a:r>
              <a:rPr lang="en-US" sz="20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наиболее распространён в России. На обоих концах патч-корда порядок цветов одинаковый.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537728" y="2193131"/>
            <a:ext cx="6219230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34" name="Shape 31"/>
          <p:cNvSpPr/>
          <p:nvPr/>
        </p:nvSpPr>
        <p:spPr>
          <a:xfrm>
            <a:off x="7537728" y="3130510"/>
            <a:ext cx="6219230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37" name="Shape 34"/>
          <p:cNvSpPr/>
          <p:nvPr/>
        </p:nvSpPr>
        <p:spPr>
          <a:xfrm>
            <a:off x="7537728" y="4067889"/>
            <a:ext cx="6219230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40" name="Shape 37"/>
          <p:cNvSpPr/>
          <p:nvPr/>
        </p:nvSpPr>
        <p:spPr>
          <a:xfrm>
            <a:off x="7537728" y="5005268"/>
            <a:ext cx="6219230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43" name="Shape 40"/>
          <p:cNvSpPr/>
          <p:nvPr/>
        </p:nvSpPr>
        <p:spPr>
          <a:xfrm>
            <a:off x="7537728" y="5942648"/>
            <a:ext cx="6219230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46" name="Shape 43"/>
          <p:cNvSpPr/>
          <p:nvPr/>
        </p:nvSpPr>
        <p:spPr>
          <a:xfrm>
            <a:off x="7537728" y="6880027"/>
            <a:ext cx="6219230" cy="22860"/>
          </a:xfrm>
          <a:prstGeom prst="rect">
            <a:avLst/>
          </a:prstGeom>
          <a:solidFill>
            <a:srgbClr val="FFE14D"/>
          </a:solidFill>
          <a:ln/>
        </p:spPr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28" y="2049127"/>
            <a:ext cx="6929081" cy="41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Прямоугольник 47"/>
          <p:cNvSpPr/>
          <p:nvPr/>
        </p:nvSpPr>
        <p:spPr>
          <a:xfrm>
            <a:off x="7537728" y="1679795"/>
            <a:ext cx="66552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1. Прямой </a:t>
            </a:r>
            <a:r>
              <a:rPr lang="ru-RU" sz="2000" b="1" dirty="0">
                <a:solidFill>
                  <a:schemeClr val="bg1"/>
                </a:solidFill>
              </a:rPr>
              <a:t>обжим (</a:t>
            </a:r>
            <a:r>
              <a:rPr lang="ru-RU" sz="2000" b="1" dirty="0" err="1">
                <a:solidFill>
                  <a:schemeClr val="bg1"/>
                </a:solidFill>
              </a:rPr>
              <a:t>Straight-through</a:t>
            </a:r>
            <a:r>
              <a:rPr lang="ru-RU" sz="2000" b="1" dirty="0">
                <a:solidFill>
                  <a:schemeClr val="bg1"/>
                </a:solidFill>
              </a:rPr>
              <a:t>) — T568B с двух сторон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7537728" y="2433830"/>
            <a:ext cx="65948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i="1" dirty="0">
                <a:solidFill>
                  <a:schemeClr val="bg1"/>
                </a:solidFill>
              </a:rPr>
              <a:t>Применение:</a:t>
            </a:r>
            <a:r>
              <a:rPr lang="ru-RU" sz="2000" dirty="0">
                <a:solidFill>
                  <a:schemeClr val="bg1"/>
                </a:solidFill>
              </a:rPr>
              <a:t> компьютер → коммутатор, компьютер → </a:t>
            </a:r>
            <a:r>
              <a:rPr lang="ru-RU" sz="2000" dirty="0" err="1">
                <a:solidFill>
                  <a:schemeClr val="bg1"/>
                </a:solidFill>
              </a:rPr>
              <a:t>хаб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7537728" y="3383870"/>
            <a:ext cx="67241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2. Прямой </a:t>
            </a:r>
            <a:r>
              <a:rPr lang="ru-RU" sz="2000" b="1" dirty="0">
                <a:solidFill>
                  <a:schemeClr val="bg1"/>
                </a:solidFill>
              </a:rPr>
              <a:t>обжим (</a:t>
            </a:r>
            <a:r>
              <a:rPr lang="ru-RU" sz="2000" b="1" dirty="0" err="1">
                <a:solidFill>
                  <a:schemeClr val="bg1"/>
                </a:solidFill>
              </a:rPr>
              <a:t>Straight-through</a:t>
            </a:r>
            <a:r>
              <a:rPr lang="ru-RU" sz="2000" b="1" dirty="0">
                <a:solidFill>
                  <a:schemeClr val="bg1"/>
                </a:solidFill>
              </a:rPr>
              <a:t>) — T568A с двух сторон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7537728" y="4412529"/>
            <a:ext cx="66022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i="1" dirty="0">
                <a:solidFill>
                  <a:schemeClr val="bg1"/>
                </a:solidFill>
              </a:rPr>
              <a:t>Применение:</a:t>
            </a:r>
            <a:r>
              <a:rPr lang="ru-RU" sz="2000" dirty="0">
                <a:solidFill>
                  <a:schemeClr val="bg1"/>
                </a:solidFill>
              </a:rPr>
              <a:t> компьютер → коммутатор (</a:t>
            </a:r>
            <a:r>
              <a:rPr lang="ru-RU" sz="2000" dirty="0" smtClean="0">
                <a:solidFill>
                  <a:schemeClr val="bg1"/>
                </a:solidFill>
              </a:rPr>
              <a:t>альтернативный)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7537728" y="5170730"/>
            <a:ext cx="73152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3. Кроссовый </a:t>
            </a:r>
            <a:r>
              <a:rPr lang="ru-RU" sz="2000" b="1" dirty="0">
                <a:solidFill>
                  <a:schemeClr val="bg1"/>
                </a:solidFill>
              </a:rPr>
              <a:t>обжим (</a:t>
            </a:r>
            <a:r>
              <a:rPr lang="ru-RU" sz="2000" b="1" dirty="0" err="1">
                <a:solidFill>
                  <a:schemeClr val="bg1"/>
                </a:solidFill>
              </a:rPr>
              <a:t>Crossover</a:t>
            </a:r>
            <a:r>
              <a:rPr lang="ru-RU" sz="2000" b="1" dirty="0">
                <a:solidFill>
                  <a:schemeClr val="bg1"/>
                </a:solidFill>
              </a:rPr>
              <a:t>) — T568A на одном конце, T568B на другом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7537728" y="6018427"/>
            <a:ext cx="57926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i="1" dirty="0">
                <a:solidFill>
                  <a:schemeClr val="bg1"/>
                </a:solidFill>
              </a:rPr>
              <a:t>Применение:</a:t>
            </a:r>
            <a:r>
              <a:rPr lang="ru-RU" sz="2000" dirty="0">
                <a:solidFill>
                  <a:schemeClr val="bg1"/>
                </a:solidFill>
              </a:rPr>
              <a:t> компьютер ↔ компьютер напрямую </a:t>
            </a:r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(</a:t>
            </a:r>
            <a:r>
              <a:rPr lang="ru-RU" sz="2000" dirty="0">
                <a:solidFill>
                  <a:schemeClr val="bg1"/>
                </a:solidFill>
              </a:rPr>
              <a:t>без коммутатора)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634960"/>
            <a:ext cx="13284642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300"/>
              </a:lnSpc>
            </a:pPr>
            <a:r>
              <a:rPr lang="ru-RU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ПРАКТИЧЕСКАЯ </a:t>
            </a:r>
            <a:r>
              <a:rPr lang="ru-RU" sz="345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РАБОТА</a:t>
            </a:r>
            <a:endParaRPr lang="en-US" sz="3450" dirty="0"/>
          </a:p>
        </p:txBody>
      </p:sp>
      <p:sp>
        <p:nvSpPr>
          <p:cNvPr id="45" name="Shape 43"/>
          <p:cNvSpPr/>
          <p:nvPr/>
        </p:nvSpPr>
        <p:spPr>
          <a:xfrm>
            <a:off x="881062" y="7019110"/>
            <a:ext cx="12868275" cy="788670"/>
          </a:xfrm>
          <a:prstGeom prst="roundRect">
            <a:avLst>
              <a:gd name="adj" fmla="val 37709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01" y="7306765"/>
            <a:ext cx="247769" cy="198239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525309" y="7246995"/>
            <a:ext cx="1202578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Для построения современных локальных сетей оптимален выбор </a:t>
            </a:r>
            <a:r>
              <a:rPr lang="en-US" sz="155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Cat5e</a:t>
            </a:r>
            <a:r>
              <a:rPr lang="en-US" sz="15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(бюджет) или </a:t>
            </a:r>
            <a:r>
              <a:rPr lang="en-US" sz="1550" b="1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Cat6</a:t>
            </a:r>
            <a:r>
              <a:rPr lang="en-US" sz="155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(с запасом на будущее).</a:t>
            </a:r>
            <a:endParaRPr lang="en-US" sz="1550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761255"/>
              </p:ext>
            </p:extLst>
          </p:nvPr>
        </p:nvGraphicFramePr>
        <p:xfrm>
          <a:off x="1079301" y="1555093"/>
          <a:ext cx="7098218" cy="509472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056746"/>
                <a:gridCol w="2037031"/>
                <a:gridCol w="4004441"/>
              </a:tblGrid>
              <a:tr h="654927"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 smtClean="0">
                          <a:effectLst/>
                          <a:latin typeface="+mn-lt"/>
                        </a:rPr>
                        <a:t>№</a:t>
                      </a:r>
                      <a:endParaRPr lang="ru-RU" sz="2000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 smtClean="0">
                          <a:effectLst/>
                        </a:rPr>
                        <a:t>Этап</a:t>
                      </a:r>
                      <a:endParaRPr lang="ru-RU" sz="20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 smtClean="0">
                          <a:effectLst/>
                        </a:rPr>
                        <a:t>Содержание работы</a:t>
                      </a:r>
                      <a:endParaRPr lang="ru-RU" sz="20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</a:rPr>
                        <a:t>1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dirty="0" smtClean="0">
                          <a:effectLst/>
                          <a:latin typeface="+mn-lt"/>
                        </a:rPr>
                        <a:t>Зачистка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effectLst/>
                        </a:rPr>
                        <a:t>Снять внешнюю оболочку на 2–3 см, не повредив жилы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</a:rPr>
                        <a:t>2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dirty="0" err="1" smtClean="0">
                          <a:effectLst/>
                        </a:rPr>
                        <a:t>Расплетение</a:t>
                      </a:r>
                      <a:r>
                        <a:rPr lang="ru-RU" sz="2000" dirty="0" smtClean="0">
                          <a:effectLst/>
                        </a:rPr>
                        <a:t> и выравнивание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effectLst/>
                        </a:rPr>
                        <a:t>Распутать пары, разложить жилы по порядку цветов (T568B)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</a:rPr>
                        <a:t>3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smtClean="0">
                          <a:effectLst/>
                        </a:rPr>
                        <a:t>Обрезка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smtClean="0">
                          <a:effectLst/>
                        </a:rPr>
                        <a:t>Ровно отрезать жилы, оставив 1,2–1,5 см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</a:rPr>
                        <a:t>4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smtClean="0">
                          <a:effectLst/>
                        </a:rPr>
                        <a:t>Вставка в коннектор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smtClean="0">
                          <a:effectLst/>
                        </a:rPr>
                        <a:t>Аккуратно, до упора, чтобы жилы упёрлись в переднюю стенку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Cat7a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smtClean="0">
                          <a:effectLst/>
                        </a:rPr>
                        <a:t>Обжим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err="1" smtClean="0">
                          <a:effectLst/>
                        </a:rPr>
                        <a:t>Кримпером</a:t>
                      </a:r>
                      <a:r>
                        <a:rPr lang="ru-RU" sz="2000" kern="1200" dirty="0" smtClean="0">
                          <a:effectLst/>
                        </a:rPr>
                        <a:t> до характерного щелчка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Cat8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smtClean="0">
                          <a:effectLst/>
                        </a:rPr>
                        <a:t>Проверка</a:t>
                      </a:r>
                      <a:endParaRPr lang="ru-R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effectLst/>
                        </a:rPr>
                        <a:t>Правильный результат: </a:t>
                      </a:r>
                      <a:r>
                        <a:rPr lang="ru-RU" sz="2000" kern="1200" dirty="0" err="1" smtClean="0">
                          <a:effectLst/>
                        </a:rPr>
                        <a:t>прозвон</a:t>
                      </a:r>
                      <a:r>
                        <a:rPr lang="ru-RU" sz="2000" kern="1200" dirty="0" smtClean="0">
                          <a:effectLst/>
                        </a:rPr>
                        <a:t> 1–1, 2–2, …, 8–8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21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2412" y="617053"/>
            <a:ext cx="3371493" cy="999530"/>
          </a:xfrm>
          <a:prstGeom prst="roundRect">
            <a:avLst>
              <a:gd name="adj" fmla="val 26448"/>
            </a:avLst>
          </a:prstGeom>
          <a:solidFill>
            <a:srgbClr val="FE0AE1"/>
          </a:solidFill>
          <a:ln/>
        </p:spPr>
      </p:sp>
      <p:sp>
        <p:nvSpPr>
          <p:cNvPr id="5" name="Text 3"/>
          <p:cNvSpPr/>
          <p:nvPr/>
        </p:nvSpPr>
        <p:spPr>
          <a:xfrm>
            <a:off x="428624" y="793266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🔴 </a:t>
            </a:r>
            <a:r>
              <a:rPr lang="ru-RU" sz="1600" b="1" dirty="0" smtClean="0"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Розовый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8624" y="1186648"/>
            <a:ext cx="3019068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Ничего не понял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31296" y="617053"/>
            <a:ext cx="3371612" cy="999530"/>
          </a:xfrm>
          <a:prstGeom prst="roundRect">
            <a:avLst>
              <a:gd name="adj" fmla="val 26448"/>
            </a:avLst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4007509" y="793266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🟠 Оранжевый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07509" y="1186648"/>
            <a:ext cx="3019187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Понял немного, нужна помощь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1697" y="634778"/>
            <a:ext cx="3371493" cy="999530"/>
          </a:xfrm>
          <a:prstGeom prst="roundRect">
            <a:avLst>
              <a:gd name="adj" fmla="val 26448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/>
          <p:nvPr/>
        </p:nvSpPr>
        <p:spPr>
          <a:xfrm>
            <a:off x="7577909" y="810990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🟡 </a:t>
            </a:r>
            <a:r>
              <a:rPr lang="ru-RU" sz="1600" b="1" dirty="0" smtClean="0"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Зеленый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7909" y="1204373"/>
            <a:ext cx="3019068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ru-RU" sz="1600" dirty="0"/>
              <a:t>Всё понял, могу объяснить другому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41902" y="612604"/>
            <a:ext cx="3371493" cy="999530"/>
          </a:xfrm>
          <a:prstGeom prst="roundRect">
            <a:avLst>
              <a:gd name="adj" fmla="val 26448"/>
            </a:avLst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118114" y="788817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🔵 Синий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8115" y="1047845"/>
            <a:ext cx="3019068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ru-RU" sz="1600" dirty="0"/>
              <a:t>Всё понял, могу сделать и смогу </a:t>
            </a:r>
            <a:endParaRPr lang="ru-RU" sz="1600" dirty="0" smtClean="0"/>
          </a:p>
          <a:p>
            <a:pPr>
              <a:lnSpc>
                <a:spcPts val="1950"/>
              </a:lnSpc>
            </a:pPr>
            <a:r>
              <a:rPr lang="ru-RU" sz="1600" dirty="0" smtClean="0"/>
              <a:t>применять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71824" y="4763592"/>
            <a:ext cx="239553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2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71824" y="5284003"/>
            <a:ext cx="555426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Заполните таблицу, используя материалы урока и дополнительные источники: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595319" y="4676784"/>
            <a:ext cx="5554266" cy="3220283"/>
          </a:xfrm>
          <a:prstGeom prst="roundRect">
            <a:avLst>
              <a:gd name="adj" fmla="val 820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2939" y="4684404"/>
            <a:ext cx="5539026" cy="9454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779628" y="4776559"/>
            <a:ext cx="13054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Тип кабеля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45074" y="4776559"/>
            <a:ext cx="636865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Макс. скорость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41984" y="4776559"/>
            <a:ext cx="63686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Макс. длина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38894" y="4776559"/>
            <a:ext cx="581501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Разъём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80441" y="4776559"/>
            <a:ext cx="585311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Сфера применения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602939" y="5629880"/>
            <a:ext cx="5539026" cy="6917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79628" y="5722034"/>
            <a:ext cx="1305401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Витая пара Cat5e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45074" y="5722034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049238" y="3888224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2046148" y="3888224"/>
            <a:ext cx="5815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987695" y="3888224"/>
            <a:ext cx="58531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602939" y="6321633"/>
            <a:ext cx="5539026" cy="4380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779628" y="6413787"/>
            <a:ext cx="13054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Коаксиал RG-6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052328" y="4579977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1049238" y="4579977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2046148" y="4579977"/>
            <a:ext cx="5815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2987695" y="4579977"/>
            <a:ext cx="58531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602939" y="6759664"/>
            <a:ext cx="5539026" cy="6917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779628" y="6851818"/>
            <a:ext cx="1305401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Оптика MM OM3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052328" y="5018008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049238" y="5018008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2046148" y="5018008"/>
            <a:ext cx="5815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2987695" y="5018008"/>
            <a:ext cx="58531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602939" y="7451417"/>
            <a:ext cx="5539026" cy="4380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779628" y="7543571"/>
            <a:ext cx="13054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Оптика SM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052328" y="5709761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1049238" y="5709761"/>
            <a:ext cx="63686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12046148" y="5709761"/>
            <a:ext cx="58150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2987695" y="5709761"/>
            <a:ext cx="58531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320" y="2482123"/>
            <a:ext cx="11686082" cy="1118525"/>
          </a:xfrm>
          <a:prstGeom prst="rect">
            <a:avLst/>
          </a:prstGeom>
          <a:noFill/>
          <a:ln w="10160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4" name="Прямоугольник 6143"/>
          <p:cNvSpPr/>
          <p:nvPr/>
        </p:nvSpPr>
        <p:spPr>
          <a:xfrm>
            <a:off x="6764595" y="2743200"/>
            <a:ext cx="2368868" cy="298185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6774804" y="3102295"/>
            <a:ext cx="2368868" cy="298185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9186326" y="2745169"/>
            <a:ext cx="2368868" cy="298185"/>
          </a:xfrm>
          <a:prstGeom prst="rect">
            <a:avLst/>
          </a:prstGeom>
          <a:solidFill>
            <a:srgbClr val="FE0AE1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/>
          <p:cNvSpPr/>
          <p:nvPr/>
        </p:nvSpPr>
        <p:spPr>
          <a:xfrm>
            <a:off x="9186326" y="3102295"/>
            <a:ext cx="2368868" cy="298185"/>
          </a:xfrm>
          <a:prstGeom prst="rect">
            <a:avLst/>
          </a:prstGeom>
          <a:solidFill>
            <a:srgbClr val="00B050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22977</TotalTime>
  <Words>738</Words>
  <Application>Microsoft Office PowerPoint</Application>
  <PresentationFormat>Произвольный</PresentationFormat>
  <Paragraphs>159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Raleway Medium</vt:lpstr>
      <vt:lpstr>quote-cjk-patch</vt:lpstr>
      <vt:lpstr>Calibri</vt:lpstr>
      <vt:lpstr>Comfortaa Bold</vt:lpstr>
      <vt:lpstr>Comfortaa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prepod</dc:creator>
  <cp:lastModifiedBy>prepod</cp:lastModifiedBy>
  <cp:revision>54</cp:revision>
  <dcterms:created xsi:type="dcterms:W3CDTF">2026-04-01T09:38:50Z</dcterms:created>
  <dcterms:modified xsi:type="dcterms:W3CDTF">2026-04-19T09:27:24Z</dcterms:modified>
</cp:coreProperties>
</file>